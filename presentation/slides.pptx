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Inter"/>
              </a:defRPr>
            </a:pPr>
            <a:r>
              <a:t>BOB AI HACKATHON 2026 · AI TRACK (SEMICONDUCTOR MANUFACTURING)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002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"/>
              </a:defRPr>
            </a:pPr>
            <a:r>
              <a:t>WaferGuard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Inter"/>
              </a:defRPr>
            </a:pPr>
            <a:r>
              <a:t>Pre-Run Yield Risk Forecasting &amp; Multi-Modal Root-Cause Prevention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749039"/>
            <a:ext cx="960120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86200"/>
            <a:ext cx="9052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TEAM: NEXUS_BYTE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Team Lead: Archi Bhatt (25dce009@charusat.edu.in)</a:t>
            </a:r>
          </a:p>
          <a:p>
            <a:pPr>
              <a:defRPr sz="1200">
                <a:solidFill>
                  <a:srgbClr val="94A3B8"/>
                </a:solidFill>
                <a:latin typeface="Inter"/>
              </a:defRPr>
            </a:pPr>
            <a:r>
              <a:t>Members: Het Patel (25dce082@charusat.edu.in) · Vatsal Makwana (25dce050@charusat.edu.in) · Gehna Patel (25dce080@charusat.edu.in)</a:t>
            </a:r>
          </a:p>
          <a:p>
            <a:pPr>
              <a:defRPr sz="1100" b="1">
                <a:solidFill>
                  <a:srgbClr val="60A5FA"/>
                </a:solidFill>
                <a:latin typeface="Inter"/>
              </a:defRPr>
            </a:pPr>
            <a:r>
              <a:t>Live App: https://fab-dashboard-wine.vercel.app  |  Repo: github.com/Mr-Het-Patel/BOB-AI-HACKATHON-NEXUS_BYTE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Costly Challenge in Semiconductor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Why yield loss occurs and why current industrial triage methods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WHO EXPERIENCES IT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Fab Process &amp; Maintenance Teams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Process Engineers tuning recipe parameters under strict cycle-time targets.</a:t>
            </a:r>
            <a:br/>
            <a:r>
              <a:t>• Equipment Maintenance Techs diagnosing sensor drifts across etch/CVD chambers.</a:t>
            </a:r>
            <a:br/>
            <a:r>
              <a:t>• Operations Managers seeking to prevent catastrophic lot scrap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WHAT GOES WRONG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Siloed Data &amp; Reactive Triage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Multi-Modal Disconnect: Recipe settings, sensor time-series, and wafer defect maps are kept in isolated databases.</a:t>
            </a:r>
            <a:br/>
            <a:r>
              <a:t>• Post-Mortem Alarms: Traditional SPC only alerts after lots are etched and destroyed.</a:t>
            </a:r>
            <a:br/>
            <a:r>
              <a:t>• Zero Probabilistic Scoring: No mathematical root-cause ranking.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BUSINESS IMPACT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$50k+ Scrap &amp; Line Downtime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Direct Scrap Cost: A single 25-wafer lot ruined by pressure or RF instability costs $50,000–$100,000.</a:t>
            </a:r>
            <a:br/>
            <a:r>
              <a:t>• Investigation Latency: Engineers spend hours manually correlating sensor spikes to defect maps.</a:t>
            </a:r>
            <a:br/>
            <a:r>
              <a:t>• Lost Capacity: Downtime cascades across fab bottleneck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WaferGuard: Multi-Modal Yield AI &amp; Root-Cause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An end-to-end system that predicts, explains, and prevents fab yield loss before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HOW WAFERGUARD WORKS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 Pre-Run Predictive Yield Scoring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Evaluates upcoming batches against historical drift correlations using strictly planned recipe parameters before wafers enter the chamber (zero post-run data leakage).</a:t>
            </a:r>
          </a:p>
          <a:p>
            <a:br/>
            <a:pPr>
              <a:defRPr sz="1400" b="1">
                <a:solidFill>
                  <a:srgbClr val="0F172A"/>
                </a:solidFill>
              </a:defRPr>
            </a:pPr>
            <a:r>
              <a:t>2. Multi-Modal Feature Fusion (40 Features)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Unifies 5 recipe parameters, 30 sensor moments &amp; trend slopes across 20 steps, and 5 spatial defect metrics (density, edge ratio, center cluster score).</a:t>
            </a:r>
          </a:p>
          <a:p>
            <a:br/>
            <a:pPr>
              <a:defRPr sz="1400" b="1">
                <a:solidFill>
                  <a:srgbClr val="0F172A"/>
                </a:solidFill>
              </a:defRPr>
            </a:pPr>
            <a:r>
              <a:t>3. TreeSHAP Attribution &amp; Actionable Guidance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Computes mathematical feature contributions, isolating root causes with 99.2% accuracy and prescribing exact corrective SOP adjustments.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44975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3687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99.2% ROOT-CAUSE ACCURACY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124 of 125 faulty lots correctly matched to root equipment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46120"/>
            <a:ext cx="4144975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383280"/>
            <a:ext cx="3687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3.53% MAE YIELD REGRESSION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LightGBM model achieves R² = 0.8811 on held-out test 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846320"/>
            <a:ext cx="414497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983480"/>
            <a:ext cx="3687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LIVE ENTERPRISE DASHBOARD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Deployed live on Vercel with circular wafer HTML5 canvas heatmaps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End-to-End Multi-Modal 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From physics simulation to LightGBM + TreeSHAP and Next.js quality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1396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1. INGESTION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Multi-Modal Inputs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5 Recipe Parameters (Temp, Pressure, RF, Gas, Etch)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20-Step Time-Series (10k sensor points)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32x32 Defect Maps (Optical SEM/AOI arrays)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1396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2. EXTRACTION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Feature Fusion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Statistical Moments: Mean, Std, Min/Max, Range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OLS Trend Slopes per sensor channel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Spatial Defect Metrics: Density, Edge Ratio, Cluster Score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Unified 40-feature vector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828800"/>
            <a:ext cx="21396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3. MODELING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LightGBM + TreeSHAP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Yield Regressor: R² = 0.881, MAE = 3.53%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Exact additive TreeSHAP feature attributions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99.2% fault attribution accuracy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Zero pre-run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828800"/>
            <a:ext cx="21396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4. DASHBOARD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Next.js UI &amp; Heatmap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Pre-run risk ranking (High, Warning, Normal)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Plain-English feature impact bars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HTML5 Canvas 32x32 wafer heatmap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Prescriptive SOP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PRODUCT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Interactive Features Built for Fab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Human-friendly enterprise dashboard built with Next.js and HTML5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DASHBOARD CAPABILITIES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1. Pre-Run Risk Ranking Table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Instant visual triage of 20 upcoming batches with risk badges and filter tabs (High Risk, Moderate, Normal).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2. Transparent SHAP Impact Bars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Plain-English drivers (e.g. 'Chamber Pressure Drift: -17.5% yield impact') replacing raw math vectors.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3. Circular Silicon Wafer Heatmap Canvas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Hardware-accelerated circular rendering with orientation notch and interactive Defect Pattern Library.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4. Prescriptive Operator Action SOPs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Clear instructions on recipe parameter recovery and maintenance checks.</a:t>
            </a:r>
          </a:p>
        </p:txBody>
      </p:sp>
      <p:pic>
        <p:nvPicPr>
          <p:cNvPr id="7" name="Picture 6" descr="01-deskto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IBM Bob &amp; watsonx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How IBM developer tools accelerated multi-modal development and explainable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DEVELOPER ACCELERATION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IBM Bob Agentic Engineering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Accelerated end-to-end architecture synthesis and multi-modal feature extraction engineering.</a:t>
            </a:r>
            <a:br/>
            <a:r>
              <a:t>• Automated data consistency verification across parquet traces, 32x32 defect arrays, and Next.js frontend bindings.</a:t>
            </a:r>
            <a:br/>
            <a:r>
              <a:t>• Validated cross-modal feature importance across 500 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EXPLAINABLE AI ENGINE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watsonx.ai Synthesis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Translates high-dimensional SHAP attribution vectors into natural-language engineering incident reports.</a:t>
            </a:r>
            <a:br/>
            <a:r>
              <a:t>• Generates contextualized SOP remediation steps for fab operators.</a:t>
            </a:r>
            <a:br/>
            <a:r>
              <a:t>• Bridges quantitative ML predictions with factory execution procedures.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74519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ENTERPRISE TRUST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Governance &amp; Auditability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Meets enterprise manufacturing compliance by maintaining full provenance on every yield prediction.</a:t>
            </a:r>
            <a:br/>
            <a:r>
              <a:t>• Zero black-box decisions: Every flagged batch contains verifiable mathematical attribution.</a:t>
            </a:r>
            <a:br/>
            <a:r>
              <a:t>• Ready for integration into factory 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t>Quantified Results &amp; Industrial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Transforming semiconductor quality control from reactive debugging to predictive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MEASURABLE HACKATHON RESULTS</a:t>
            </a:r>
          </a:p>
          <a:p>
            <a:pPr>
              <a:defRPr sz="1300" b="1">
                <a:solidFill>
                  <a:srgbClr val="16A34A"/>
                </a:solidFill>
              </a:defRPr>
            </a:pPr>
            <a:r>
              <a:t>• 99.2% Fault Attribution Accuracy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Correctly isolated root equipment causes in 124 of 125 historical fault lots.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3.53% Mean Absolute Error (R² = 0.881)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High-accuracy yield percentage prediction across diverse process recipe distributions.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100% Defect Map Integration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Every lot includes spatial defect metrics in top SHAP rankings, satisfying multi-modal requirements.</a:t>
            </a:r>
          </a:p>
          <a:p>
            <a:br/>
            <a:pPr>
              <a:defRPr sz="1300" b="1">
                <a:solidFill>
                  <a:srgbClr val="D97706"/>
                </a:solidFill>
              </a:defRPr>
            </a:pPr>
            <a:r>
              <a:t>• $50,000+ Potential Savings Per Lot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Prevents catastrophic wafer scrapping through pre-run recipe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850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FUTURE INDUSTRIAL ROADMAP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1. Live SECS/GEM Equipment Streaming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Connect directly to standard fab automation communication buses for sub-second telemetry ingestion.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2. Multi-Chamber Transfer Learning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Scale models across parallel etch, CVD, and CMP tools with chamber-to-chamber drift compensation.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3. Closed-Loop Recipe Auto-Correction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Enable autonomous parameter tuning to steer recipes back into safe yield boundaries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